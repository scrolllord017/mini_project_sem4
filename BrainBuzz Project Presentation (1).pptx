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embeddedFontLst>
    <p:embeddedFont>
      <p:font typeface="Inter SemiBold"/>
      <p:regular r:id="rId17"/>
      <p:bold r:id="rId18"/>
      <p:italic r:id="rId19"/>
      <p:boldItalic r:id="rId20"/>
    </p:embeddedFont>
    <p:embeddedFont>
      <p:font typeface="Inter"/>
      <p:regular r:id="rId21"/>
      <p:bold r:id="rId22"/>
      <p:italic r:id="rId23"/>
      <p:boldItalic r:id="rId24"/>
    </p:embeddedFont>
    <p:embeddedFont>
      <p:font typeface="Montserrat"/>
      <p:regular r:id="rId25"/>
      <p:bold r:id="rId26"/>
      <p:italic r:id="rId27"/>
      <p:boldItalic r:id="rId28"/>
    </p:embeddedFont>
    <p:embeddedFont>
      <p:font typeface="Montserrat ExtraBold"/>
      <p:bold r:id="rId29"/>
      <p:boldItalic r:id="rId30"/>
    </p:embeddedFont>
    <p:embeddedFont>
      <p:font typeface="Inter Medium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boldItalic.fntdata"/><Relationship Id="rId22" Type="http://schemas.openxmlformats.org/officeDocument/2006/relationships/font" Target="fonts/Inter-bold.fntdata"/><Relationship Id="rId21" Type="http://schemas.openxmlformats.org/officeDocument/2006/relationships/font" Target="fonts/Inter-regular.fntdata"/><Relationship Id="rId24" Type="http://schemas.openxmlformats.org/officeDocument/2006/relationships/font" Target="fonts/Inter-boldItalic.fntdata"/><Relationship Id="rId23" Type="http://schemas.openxmlformats.org/officeDocument/2006/relationships/font" Target="fonts/Inter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bold.fntdata"/><Relationship Id="rId25" Type="http://schemas.openxmlformats.org/officeDocument/2006/relationships/font" Target="fonts/Montserrat-regular.fntdata"/><Relationship Id="rId28" Type="http://schemas.openxmlformats.org/officeDocument/2006/relationships/font" Target="fonts/Montserrat-boldItalic.fntdata"/><Relationship Id="rId27" Type="http://schemas.openxmlformats.org/officeDocument/2006/relationships/font" Target="fonts/Montserra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ExtraBol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terMedium-regular.fntdata"/><Relationship Id="rId30" Type="http://schemas.openxmlformats.org/officeDocument/2006/relationships/font" Target="fonts/MontserratExtraBold-boldItalic.fntdata"/><Relationship Id="rId11" Type="http://schemas.openxmlformats.org/officeDocument/2006/relationships/slide" Target="slides/slide6.xml"/><Relationship Id="rId33" Type="http://schemas.openxmlformats.org/officeDocument/2006/relationships/font" Target="fonts/InterMedium-italic.fntdata"/><Relationship Id="rId10" Type="http://schemas.openxmlformats.org/officeDocument/2006/relationships/slide" Target="slides/slide5.xml"/><Relationship Id="rId32" Type="http://schemas.openxmlformats.org/officeDocument/2006/relationships/font" Target="fonts/InterMedium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InterMedium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InterSemiBold-regular.fntdata"/><Relationship Id="rId16" Type="http://schemas.openxmlformats.org/officeDocument/2006/relationships/slide" Target="slides/slide11.xml"/><Relationship Id="rId19" Type="http://schemas.openxmlformats.org/officeDocument/2006/relationships/font" Target="fonts/InterSemiBold-italic.fntdata"/><Relationship Id="rId18" Type="http://schemas.openxmlformats.org/officeDocument/2006/relationships/font" Target="fonts/InterSemi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8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8.png"/><Relationship Id="rId4" Type="http://schemas.openxmlformats.org/officeDocument/2006/relationships/image" Target="../media/image14.png"/><Relationship Id="rId5" Type="http://schemas.openxmlformats.org/officeDocument/2006/relationships/image" Target="../media/image1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8.png"/><Relationship Id="rId4" Type="http://schemas.openxmlformats.org/officeDocument/2006/relationships/image" Target="../media/image11.png"/><Relationship Id="rId9" Type="http://schemas.openxmlformats.org/officeDocument/2006/relationships/image" Target="../media/image9.png"/><Relationship Id="rId5" Type="http://schemas.openxmlformats.org/officeDocument/2006/relationships/image" Target="../media/image4.png"/><Relationship Id="rId6" Type="http://schemas.openxmlformats.org/officeDocument/2006/relationships/image" Target="../media/image1.png"/><Relationship Id="rId7" Type="http://schemas.openxmlformats.org/officeDocument/2006/relationships/image" Target="../media/image3.png"/><Relationship Id="rId8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21.png"/><Relationship Id="rId10" Type="http://schemas.openxmlformats.org/officeDocument/2006/relationships/image" Target="../media/image29.png"/><Relationship Id="rId13" Type="http://schemas.openxmlformats.org/officeDocument/2006/relationships/image" Target="../media/image23.png"/><Relationship Id="rId1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8.png"/><Relationship Id="rId4" Type="http://schemas.openxmlformats.org/officeDocument/2006/relationships/image" Target="../media/image7.png"/><Relationship Id="rId9" Type="http://schemas.openxmlformats.org/officeDocument/2006/relationships/image" Target="../media/image18.png"/><Relationship Id="rId15" Type="http://schemas.openxmlformats.org/officeDocument/2006/relationships/image" Target="../media/image17.png"/><Relationship Id="rId14" Type="http://schemas.openxmlformats.org/officeDocument/2006/relationships/image" Target="../media/image22.png"/><Relationship Id="rId5" Type="http://schemas.openxmlformats.org/officeDocument/2006/relationships/image" Target="../media/image20.png"/><Relationship Id="rId6" Type="http://schemas.openxmlformats.org/officeDocument/2006/relationships/image" Target="../media/image26.png"/><Relationship Id="rId7" Type="http://schemas.openxmlformats.org/officeDocument/2006/relationships/image" Target="../media/image13.png"/><Relationship Id="rId8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8.png"/><Relationship Id="rId4" Type="http://schemas.openxmlformats.org/officeDocument/2006/relationships/image" Target="../media/image15.png"/><Relationship Id="rId5" Type="http://schemas.openxmlformats.org/officeDocument/2006/relationships/image" Target="../media/image39.png"/><Relationship Id="rId6" Type="http://schemas.openxmlformats.org/officeDocument/2006/relationships/image" Target="../media/image32.jp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45.png"/><Relationship Id="rId10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4.png"/><Relationship Id="rId4" Type="http://schemas.openxmlformats.org/officeDocument/2006/relationships/image" Target="../media/image1.png"/><Relationship Id="rId9" Type="http://schemas.openxmlformats.org/officeDocument/2006/relationships/image" Target="../media/image28.png"/><Relationship Id="rId5" Type="http://schemas.openxmlformats.org/officeDocument/2006/relationships/image" Target="../media/image27.png"/><Relationship Id="rId6" Type="http://schemas.openxmlformats.org/officeDocument/2006/relationships/image" Target="../media/image37.png"/><Relationship Id="rId7" Type="http://schemas.openxmlformats.org/officeDocument/2006/relationships/image" Target="../media/image19.png"/><Relationship Id="rId8" Type="http://schemas.openxmlformats.org/officeDocument/2006/relationships/image" Target="../media/image3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8.png"/><Relationship Id="rId4" Type="http://schemas.openxmlformats.org/officeDocument/2006/relationships/image" Target="../media/image31.png"/><Relationship Id="rId5" Type="http://schemas.openxmlformats.org/officeDocument/2006/relationships/image" Target="../media/image1.png"/><Relationship Id="rId6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8.png"/><Relationship Id="rId4" Type="http://schemas.openxmlformats.org/officeDocument/2006/relationships/image" Target="../media/image31.png"/><Relationship Id="rId5" Type="http://schemas.openxmlformats.org/officeDocument/2006/relationships/image" Target="../media/image48.png"/><Relationship Id="rId6" Type="http://schemas.openxmlformats.org/officeDocument/2006/relationships/image" Target="../media/image1.png"/><Relationship Id="rId7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4.png"/><Relationship Id="rId4" Type="http://schemas.openxmlformats.org/officeDocument/2006/relationships/image" Target="../media/image40.png"/><Relationship Id="rId5" Type="http://schemas.openxmlformats.org/officeDocument/2006/relationships/image" Target="../media/image1.png"/><Relationship Id="rId6" Type="http://schemas.openxmlformats.org/officeDocument/2006/relationships/image" Target="../media/image33.png"/><Relationship Id="rId7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4.png"/><Relationship Id="rId4" Type="http://schemas.openxmlformats.org/officeDocument/2006/relationships/image" Target="../media/image1.png"/><Relationship Id="rId9" Type="http://schemas.openxmlformats.org/officeDocument/2006/relationships/image" Target="../media/image46.png"/><Relationship Id="rId5" Type="http://schemas.openxmlformats.org/officeDocument/2006/relationships/image" Target="../media/image43.png"/><Relationship Id="rId6" Type="http://schemas.openxmlformats.org/officeDocument/2006/relationships/image" Target="../media/image42.png"/><Relationship Id="rId7" Type="http://schemas.openxmlformats.org/officeDocument/2006/relationships/image" Target="../media/image50.png"/><Relationship Id="rId8" Type="http://schemas.openxmlformats.org/officeDocument/2006/relationships/image" Target="../media/image4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8.png"/><Relationship Id="rId4" Type="http://schemas.openxmlformats.org/officeDocument/2006/relationships/image" Target="../media/image49.png"/><Relationship Id="rId5" Type="http://schemas.openxmlformats.org/officeDocument/2006/relationships/image" Target="../media/image41.png"/><Relationship Id="rId6" Type="http://schemas.openxmlformats.org/officeDocument/2006/relationships/image" Target="../media/image1.png"/><Relationship Id="rId7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47987" y="2940397"/>
            <a:ext cx="6296025" cy="29697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6781800"/>
            <a:ext cx="12192000" cy="762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2790586" y="947886"/>
            <a:ext cx="6610826" cy="731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BrainBuzz Website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947987" y="1907976"/>
            <a:ext cx="629602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An Automated MCQ-Based Quiz Platform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3281362" y="3302347"/>
            <a:ext cx="56769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Branch: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CSE-R (B.Tech Sem 4)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3281362" y="3652837"/>
            <a:ext cx="56769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Subject Code: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ICS-454 (Mini Project)</a:t>
            </a:r>
            <a:endParaRPr/>
          </a:p>
        </p:txBody>
      </p:sp>
      <p:sp>
        <p:nvSpPr>
          <p:cNvPr id="91" name="Google Shape;91;p13"/>
          <p:cNvSpPr/>
          <p:nvPr/>
        </p:nvSpPr>
        <p:spPr>
          <a:xfrm>
            <a:off x="3281362" y="4070002"/>
            <a:ext cx="567690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3281362" y="4222402"/>
            <a:ext cx="56769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Team Members: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3281362" y="4572892"/>
            <a:ext cx="56769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Abhishek Yadav (2400520100006) • Aditya Pal (2400520100009)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3281350" y="4923375"/>
            <a:ext cx="5962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Antrikshya Gupta (2400520100018) • Archit Saxena </a:t>
            </a:r>
            <a:r>
              <a:rPr lang="en-US" sz="13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(2400520100021)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3257549" y="5207473"/>
            <a:ext cx="5676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Ayush Sharma (2400520100026)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0" name="Google Shape;10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468760"/>
            <a:ext cx="52387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6781800"/>
            <a:ext cx="12192000" cy="76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571500" y="952500"/>
            <a:ext cx="11601450" cy="508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Introduction</a:t>
            </a:r>
            <a:endParaRPr/>
          </a:p>
        </p:txBody>
      </p:sp>
      <p:sp>
        <p:nvSpPr>
          <p:cNvPr id="104" name="Google Shape;104;p14"/>
          <p:cNvSpPr/>
          <p:nvPr/>
        </p:nvSpPr>
        <p:spPr>
          <a:xfrm>
            <a:off x="571500" y="1575345"/>
            <a:ext cx="11049000" cy="285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571500" y="2397323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The education sector is rapidly digitizing, yet many assessments remain manual.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857250" y="3197423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Traditional Methods: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Paper-based quizzes require significant manual effort for checking and result compilation.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857250" y="4254698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Online Forms: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Standard forms often lack robust security, time controls, and attempt restrictions.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857250" y="5007173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BrainBuzz Solution: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 dedicated, secure, and automated platform tailored for educational institutes to streamline the entire examination process.</a:t>
            </a:r>
            <a:endParaRPr/>
          </a:p>
        </p:txBody>
      </p:sp>
      <p:pic>
        <p:nvPicPr>
          <p:cNvPr descr="image.png" id="109" name="Google Shape;109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2468760"/>
            <a:ext cx="52387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235523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292798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5045273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7" name="Google Shape;11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84920"/>
            <a:ext cx="5238750" cy="43014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984920"/>
            <a:ext cx="5238750" cy="43014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6781800"/>
            <a:ext cx="12192000" cy="76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571500" y="952500"/>
            <a:ext cx="11601450" cy="508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Problem Statement &amp; Objectives</a:t>
            </a:r>
            <a:endParaRPr/>
          </a:p>
        </p:txBody>
      </p:sp>
      <p:sp>
        <p:nvSpPr>
          <p:cNvPr id="122" name="Google Shape;122;p15"/>
          <p:cNvSpPr/>
          <p:nvPr/>
        </p:nvSpPr>
        <p:spPr>
          <a:xfrm>
            <a:off x="571500" y="1575345"/>
            <a:ext cx="11049000" cy="285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1323975" y="2375445"/>
            <a:ext cx="4300537" cy="319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6B6D4"/>
                </a:solidFill>
                <a:latin typeface="Montserrat"/>
                <a:ea typeface="Montserrat"/>
                <a:cs typeface="Montserrat"/>
                <a:sym typeface="Montserrat"/>
              </a:rPr>
              <a:t>The Problem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7134225" y="2375445"/>
            <a:ext cx="4300537" cy="319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6B6D4"/>
                </a:solidFill>
                <a:latin typeface="Montserrat"/>
                <a:ea typeface="Montserrat"/>
                <a:cs typeface="Montserrat"/>
                <a:sym typeface="Montserrat"/>
              </a:rPr>
              <a:t>The Objectives</a:t>
            </a:r>
            <a:endParaRPr/>
          </a:p>
        </p:txBody>
      </p:sp>
      <p:pic>
        <p:nvPicPr>
          <p:cNvPr descr="image.png" id="125" name="Google Shape;125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2025" y="2402085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/>
          <p:cNvSpPr txBox="1"/>
          <p:nvPr/>
        </p:nvSpPr>
        <p:spPr>
          <a:xfrm>
            <a:off x="1247775" y="2885926"/>
            <a:ext cx="41719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Multiple Attempts: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Students can easily resubmit answers in basic forms.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1247775" y="3638401"/>
            <a:ext cx="41719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Answer Sharing: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Lack of randomization makes it easy to copy.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1247775" y="4390876"/>
            <a:ext cx="41719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Manual Effort: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Teachers spend hours grading papers.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1247775" y="5143351"/>
            <a:ext cx="41719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Difficult Analysis: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No automated way to visualize class performance.</a:t>
            </a:r>
            <a:endParaRPr/>
          </a:p>
        </p:txBody>
      </p:sp>
      <p:pic>
        <p:nvPicPr>
          <p:cNvPr descr="image.png" id="130" name="Google Shape;130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72275" y="2402085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5"/>
          <p:cNvSpPr txBox="1"/>
          <p:nvPr/>
        </p:nvSpPr>
        <p:spPr>
          <a:xfrm>
            <a:off x="7058025" y="2885926"/>
            <a:ext cx="41719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Secure Platform: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Restrict students to a single attempt per quiz.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7058025" y="3638401"/>
            <a:ext cx="41719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Automation: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Instant evaluation of answers and score generation.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7058025" y="4390876"/>
            <a:ext cx="41719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Efficiency: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Easy quiz creation and link sharing for teachers.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7058025" y="5143351"/>
            <a:ext cx="41719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Analytics: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Organized dashboard for result analysis.</a:t>
            </a:r>
            <a:endParaRPr/>
          </a:p>
        </p:txBody>
      </p:sp>
      <p:pic>
        <p:nvPicPr>
          <p:cNvPr descr="image.png" id="135" name="Google Shape;135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2025" y="2924026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2025" y="3676501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2025" y="4428976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2025" y="5181451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772275" y="2924026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772275" y="3676501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772275" y="4428976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772275" y="5181451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7" name="Google Shape;14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74726"/>
            <a:ext cx="2547937" cy="31219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05187" y="2574726"/>
            <a:ext cx="2547937" cy="31219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38875" y="2574726"/>
            <a:ext cx="2547937" cy="31219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72562" y="2574726"/>
            <a:ext cx="2547937" cy="31219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0" y="6781800"/>
            <a:ext cx="12192000" cy="76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6"/>
          <p:cNvSpPr txBox="1"/>
          <p:nvPr/>
        </p:nvSpPr>
        <p:spPr>
          <a:xfrm>
            <a:off x="571500" y="952500"/>
            <a:ext cx="11601450" cy="508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Proposed System Features</a:t>
            </a:r>
            <a:endParaRPr/>
          </a:p>
        </p:txBody>
      </p:sp>
      <p:sp>
        <p:nvSpPr>
          <p:cNvPr id="154" name="Google Shape;154;p16"/>
          <p:cNvSpPr/>
          <p:nvPr/>
        </p:nvSpPr>
        <p:spPr>
          <a:xfrm>
            <a:off x="571500" y="1575345"/>
            <a:ext cx="11049000" cy="285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5" name="Google Shape;155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512093" y="2870001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6"/>
          <p:cNvSpPr txBox="1"/>
          <p:nvPr/>
        </p:nvSpPr>
        <p:spPr>
          <a:xfrm>
            <a:off x="1005363" y="3727251"/>
            <a:ext cx="1680210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Teacher Portal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866775" y="4273897"/>
            <a:ext cx="1957387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Secure login to create quizzes, manage questions, and view a detailed results dashboard.</a:t>
            </a:r>
            <a:endParaRPr/>
          </a:p>
        </p:txBody>
      </p:sp>
      <p:pic>
        <p:nvPicPr>
          <p:cNvPr descr="image.png" id="158" name="Google Shape;158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345781" y="2870001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6"/>
          <p:cNvSpPr txBox="1"/>
          <p:nvPr/>
        </p:nvSpPr>
        <p:spPr>
          <a:xfrm>
            <a:off x="3779043" y="3727251"/>
            <a:ext cx="1800225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Student Access</a:t>
            </a:r>
            <a:endParaRPr/>
          </a:p>
        </p:txBody>
      </p:sp>
      <p:sp>
        <p:nvSpPr>
          <p:cNvPr id="160" name="Google Shape;160;p16"/>
          <p:cNvSpPr txBox="1"/>
          <p:nvPr/>
        </p:nvSpPr>
        <p:spPr>
          <a:xfrm>
            <a:off x="3700462" y="4273897"/>
            <a:ext cx="1957387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Hassle-free access via shareable links. Students enter Roll No. to start. No signup required.</a:t>
            </a:r>
            <a:endParaRPr/>
          </a:p>
        </p:txBody>
      </p:sp>
      <p:pic>
        <p:nvPicPr>
          <p:cNvPr descr="image.png" id="161" name="Google Shape;161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179468" y="2870001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6"/>
          <p:cNvSpPr txBox="1"/>
          <p:nvPr/>
        </p:nvSpPr>
        <p:spPr>
          <a:xfrm>
            <a:off x="6557724" y="3727251"/>
            <a:ext cx="1910238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Fair Assessment</a:t>
            </a:r>
            <a:endParaRPr/>
          </a:p>
        </p:txBody>
      </p:sp>
      <p:sp>
        <p:nvSpPr>
          <p:cNvPr id="163" name="Google Shape;163;p16"/>
          <p:cNvSpPr txBox="1"/>
          <p:nvPr/>
        </p:nvSpPr>
        <p:spPr>
          <a:xfrm>
            <a:off x="6534150" y="4273897"/>
            <a:ext cx="1957387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Questions are randomized, and the system strictly enforces a single-attempt policy.</a:t>
            </a:r>
            <a:endParaRPr/>
          </a:p>
        </p:txBody>
      </p:sp>
      <p:pic>
        <p:nvPicPr>
          <p:cNvPr descr="image.png" id="164" name="Google Shape;164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013156" y="2870001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6"/>
          <p:cNvSpPr txBox="1"/>
          <p:nvPr/>
        </p:nvSpPr>
        <p:spPr>
          <a:xfrm>
            <a:off x="9406413" y="3727251"/>
            <a:ext cx="1880235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Auto-Evaluation</a:t>
            </a:r>
            <a:endParaRPr/>
          </a:p>
        </p:txBody>
      </p:sp>
      <p:sp>
        <p:nvSpPr>
          <p:cNvPr id="166" name="Google Shape;166;p16"/>
          <p:cNvSpPr txBox="1"/>
          <p:nvPr/>
        </p:nvSpPr>
        <p:spPr>
          <a:xfrm>
            <a:off x="9367837" y="4273897"/>
            <a:ext cx="1957387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Immediate score calculation and data storage upon submission.</a:t>
            </a:r>
            <a:endParaRPr/>
          </a:p>
        </p:txBody>
      </p:sp>
      <p:pic>
        <p:nvPicPr>
          <p:cNvPr descr="image.png" id="167" name="Google Shape;167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654968" y="3050976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488656" y="3050976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7360443" y="3050976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6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0175081" y="3050976"/>
            <a:ext cx="34290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5" name="Google Shape;17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87475" y="1429625"/>
            <a:ext cx="3706300" cy="51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6781800"/>
            <a:ext cx="12192000" cy="76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7"/>
          <p:cNvSpPr txBox="1"/>
          <p:nvPr/>
        </p:nvSpPr>
        <p:spPr>
          <a:xfrm>
            <a:off x="571500" y="762000"/>
            <a:ext cx="5200650" cy="508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System Architecture</a:t>
            </a:r>
            <a:endParaRPr/>
          </a:p>
        </p:txBody>
      </p:sp>
      <p:sp>
        <p:nvSpPr>
          <p:cNvPr id="179" name="Google Shape;179;p17"/>
          <p:cNvSpPr/>
          <p:nvPr/>
        </p:nvSpPr>
        <p:spPr>
          <a:xfrm>
            <a:off x="571500" y="1384845"/>
            <a:ext cx="4953000" cy="285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7"/>
          <p:cNvSpPr txBox="1"/>
          <p:nvPr/>
        </p:nvSpPr>
        <p:spPr>
          <a:xfrm>
            <a:off x="571500" y="188967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1. Frontend (User Interface):</a:t>
            </a:r>
            <a:endParaRPr/>
          </a:p>
        </p:txBody>
      </p:sp>
      <p:sp>
        <p:nvSpPr>
          <p:cNvPr id="181" name="Google Shape;181;p17"/>
          <p:cNvSpPr txBox="1"/>
          <p:nvPr/>
        </p:nvSpPr>
        <p:spPr>
          <a:xfrm>
            <a:off x="571500" y="2556420"/>
            <a:ext cx="49530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React.js provides a responsive interface for both Teachers (Dashboard) and Students (Quiz Window).</a:t>
            </a:r>
            <a:endParaRPr/>
          </a:p>
        </p:txBody>
      </p:sp>
      <p:sp>
        <p:nvSpPr>
          <p:cNvPr id="182" name="Google Shape;182;p17"/>
          <p:cNvSpPr txBox="1"/>
          <p:nvPr/>
        </p:nvSpPr>
        <p:spPr>
          <a:xfrm>
            <a:off x="571500" y="3486001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2. Backend (Logic Layer):</a:t>
            </a:r>
            <a:endParaRPr/>
          </a:p>
        </p:txBody>
      </p:sp>
      <p:sp>
        <p:nvSpPr>
          <p:cNvPr id="183" name="Google Shape;183;p17"/>
          <p:cNvSpPr txBox="1"/>
          <p:nvPr/>
        </p:nvSpPr>
        <p:spPr>
          <a:xfrm>
            <a:off x="571500" y="4152751"/>
            <a:ext cx="49530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Node.js &amp; Express.js handle API requests, validate student sessions, and process quiz logic.</a:t>
            </a:r>
            <a:endParaRPr/>
          </a:p>
        </p:txBody>
      </p:sp>
      <p:sp>
        <p:nvSpPr>
          <p:cNvPr id="184" name="Google Shape;184;p17"/>
          <p:cNvSpPr txBox="1"/>
          <p:nvPr/>
        </p:nvSpPr>
        <p:spPr>
          <a:xfrm>
            <a:off x="571500" y="5082331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3. Database (Storage):</a:t>
            </a:r>
            <a:endParaRPr/>
          </a:p>
        </p:txBody>
      </p:sp>
      <p:sp>
        <p:nvSpPr>
          <p:cNvPr id="185" name="Google Shape;185;p17"/>
          <p:cNvSpPr txBox="1"/>
          <p:nvPr/>
        </p:nvSpPr>
        <p:spPr>
          <a:xfrm>
            <a:off x="571500" y="5749081"/>
            <a:ext cx="49530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MongoDB Atlas stores quiz data, student profiles, and submission results.</a:t>
            </a:r>
            <a:endParaRPr/>
          </a:p>
        </p:txBody>
      </p:sp>
      <p:pic>
        <p:nvPicPr>
          <p:cNvPr id="186" name="Google Shape;186;p17"/>
          <p:cNvPicPr preferRelativeResize="0"/>
          <p:nvPr/>
        </p:nvPicPr>
        <p:blipFill rotWithShape="1">
          <a:blip r:embed="rId6">
            <a:alphaModFix/>
          </a:blip>
          <a:srcRect b="2354" l="0" r="0" t="2344"/>
          <a:stretch/>
        </p:blipFill>
        <p:spPr>
          <a:xfrm>
            <a:off x="5772150" y="2194475"/>
            <a:ext cx="5975700" cy="458732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7"/>
          <p:cNvSpPr txBox="1"/>
          <p:nvPr/>
        </p:nvSpPr>
        <p:spPr>
          <a:xfrm>
            <a:off x="6666100" y="1602800"/>
            <a:ext cx="3519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65F4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Data Flow: User ↔ Server ↔ Database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2" name="Google Shape;19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6781800"/>
            <a:ext cx="12192000" cy="76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8"/>
          <p:cNvSpPr txBox="1"/>
          <p:nvPr/>
        </p:nvSpPr>
        <p:spPr>
          <a:xfrm>
            <a:off x="571500" y="952500"/>
            <a:ext cx="11601450" cy="508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Tools &amp; Technologies Used</a:t>
            </a:r>
            <a:endParaRPr/>
          </a:p>
        </p:txBody>
      </p:sp>
      <p:sp>
        <p:nvSpPr>
          <p:cNvPr id="195" name="Google Shape;195;p18"/>
          <p:cNvSpPr/>
          <p:nvPr/>
        </p:nvSpPr>
        <p:spPr>
          <a:xfrm>
            <a:off x="571500" y="1575345"/>
            <a:ext cx="11049000" cy="285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6" name="Google Shape;196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7725" y="251832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8"/>
          <p:cNvSpPr txBox="1"/>
          <p:nvPr/>
        </p:nvSpPr>
        <p:spPr>
          <a:xfrm>
            <a:off x="1190625" y="2200213"/>
            <a:ext cx="18858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Frontend: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 React.js, HTML, Lucide React</a:t>
            </a:r>
            <a:r>
              <a:rPr lang="en-US" sz="1500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, 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Tailwind CSS</a:t>
            </a:r>
            <a:endParaRPr/>
          </a:p>
        </p:txBody>
      </p:sp>
      <p:pic>
        <p:nvPicPr>
          <p:cNvPr descr="image.png" id="198" name="Google Shape;198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09975" y="2518320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8"/>
          <p:cNvSpPr txBox="1"/>
          <p:nvPr/>
        </p:nvSpPr>
        <p:spPr>
          <a:xfrm>
            <a:off x="4038600" y="2175420"/>
            <a:ext cx="15335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Backend: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 Node.js, Express.js</a:t>
            </a:r>
            <a:endParaRPr/>
          </a:p>
        </p:txBody>
      </p:sp>
      <p:pic>
        <p:nvPicPr>
          <p:cNvPr descr="image.png" id="200" name="Google Shape;200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7725" y="4099470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8"/>
          <p:cNvSpPr txBox="1"/>
          <p:nvPr/>
        </p:nvSpPr>
        <p:spPr>
          <a:xfrm>
            <a:off x="1190625" y="3908970"/>
            <a:ext cx="1619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Database: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 MongoDB Atlas</a:t>
            </a:r>
            <a:endParaRPr/>
          </a:p>
        </p:txBody>
      </p:sp>
      <p:pic>
        <p:nvPicPr>
          <p:cNvPr descr="image.png" id="202" name="Google Shape;202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609975" y="409947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8"/>
          <p:cNvSpPr txBox="1"/>
          <p:nvPr/>
        </p:nvSpPr>
        <p:spPr>
          <a:xfrm>
            <a:off x="3981450" y="3756570"/>
            <a:ext cx="15906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Auth: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 JWT (JSON Web Tokens)</a:t>
            </a:r>
            <a:endParaRPr/>
          </a:p>
        </p:txBody>
      </p:sp>
      <p:pic>
        <p:nvPicPr>
          <p:cNvPr descr="image.png" id="204" name="Google Shape;204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7725" y="5680620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8"/>
          <p:cNvSpPr txBox="1"/>
          <p:nvPr/>
        </p:nvSpPr>
        <p:spPr>
          <a:xfrm>
            <a:off x="1190625" y="5490120"/>
            <a:ext cx="1619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Security: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 Bcrypt (Hashing)</a:t>
            </a:r>
            <a:endParaRPr/>
          </a:p>
        </p:txBody>
      </p:sp>
      <p:pic>
        <p:nvPicPr>
          <p:cNvPr descr="image.png" id="206" name="Google Shape;206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609975" y="5680620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8"/>
          <p:cNvSpPr txBox="1"/>
          <p:nvPr/>
        </p:nvSpPr>
        <p:spPr>
          <a:xfrm>
            <a:off x="3952875" y="5337720"/>
            <a:ext cx="16192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Language: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 JavaScript (ES6+)</a:t>
            </a:r>
            <a:endParaRPr/>
          </a:p>
        </p:txBody>
      </p:sp>
      <p:pic>
        <p:nvPicPr>
          <p:cNvPr id="208" name="Google Shape;208;p18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829375" y="3026050"/>
            <a:ext cx="6343575" cy="22922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3" name="Google Shape;21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230635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6781800"/>
            <a:ext cx="12192000" cy="76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9"/>
          <p:cNvSpPr txBox="1"/>
          <p:nvPr/>
        </p:nvSpPr>
        <p:spPr>
          <a:xfrm>
            <a:off x="571500" y="952500"/>
            <a:ext cx="11601450" cy="508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Implementation Details</a:t>
            </a:r>
            <a:endParaRPr/>
          </a:p>
        </p:txBody>
      </p:sp>
      <p:sp>
        <p:nvSpPr>
          <p:cNvPr id="217" name="Google Shape;217;p19"/>
          <p:cNvSpPr/>
          <p:nvPr/>
        </p:nvSpPr>
        <p:spPr>
          <a:xfrm>
            <a:off x="571500" y="1575345"/>
            <a:ext cx="11049000" cy="285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9"/>
          <p:cNvSpPr txBox="1"/>
          <p:nvPr/>
        </p:nvSpPr>
        <p:spPr>
          <a:xfrm>
            <a:off x="1211949" y="1718225"/>
            <a:ext cx="8802900" cy="14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Teacher Dashboard: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 protected route allowing teachers to design quizzes, set time limits, and add questions.</a:t>
            </a:r>
            <a:endParaRPr/>
          </a:p>
        </p:txBody>
      </p:sp>
      <p:sp>
        <p:nvSpPr>
          <p:cNvPr id="219" name="Google Shape;219;p19"/>
          <p:cNvSpPr txBox="1"/>
          <p:nvPr/>
        </p:nvSpPr>
        <p:spPr>
          <a:xfrm>
            <a:off x="1211949" y="3263875"/>
            <a:ext cx="8802900" cy="14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Quiz Interface: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 clean, distraction-free UI for students. It loads questions dynamically and tracks selected answers.</a:t>
            </a:r>
            <a:endParaRPr/>
          </a:p>
        </p:txBody>
      </p:sp>
      <p:sp>
        <p:nvSpPr>
          <p:cNvPr id="220" name="Google Shape;220;p19"/>
          <p:cNvSpPr txBox="1"/>
          <p:nvPr/>
        </p:nvSpPr>
        <p:spPr>
          <a:xfrm>
            <a:off x="1211949" y="4809525"/>
            <a:ext cx="8802900" cy="14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Result Processing: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Once submitted, the backend compares answers against the key, calculates the score, and updates the database instantly.</a:t>
            </a:r>
            <a:endParaRPr/>
          </a:p>
        </p:txBody>
      </p:sp>
      <p:pic>
        <p:nvPicPr>
          <p:cNvPr descr="image.png" id="221" name="Google Shape;221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4099" y="1773924"/>
            <a:ext cx="338567" cy="2924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4099" y="3319574"/>
            <a:ext cx="338567" cy="2924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4099" y="4865224"/>
            <a:ext cx="338567" cy="2924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8" name="Google Shape;22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30635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28800" y="5434161"/>
            <a:ext cx="8150230" cy="6743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6781800"/>
            <a:ext cx="12192000" cy="76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0"/>
          <p:cNvSpPr txBox="1"/>
          <p:nvPr/>
        </p:nvSpPr>
        <p:spPr>
          <a:xfrm>
            <a:off x="571500" y="952500"/>
            <a:ext cx="11601450" cy="508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Project Results</a:t>
            </a:r>
            <a:endParaRPr/>
          </a:p>
        </p:txBody>
      </p:sp>
      <p:sp>
        <p:nvSpPr>
          <p:cNvPr id="233" name="Google Shape;233;p20"/>
          <p:cNvSpPr/>
          <p:nvPr/>
        </p:nvSpPr>
        <p:spPr>
          <a:xfrm>
            <a:off x="571500" y="1575345"/>
            <a:ext cx="11049000" cy="285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0"/>
          <p:cNvSpPr txBox="1"/>
          <p:nvPr/>
        </p:nvSpPr>
        <p:spPr>
          <a:xfrm>
            <a:off x="2273358" y="2376642"/>
            <a:ext cx="77058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Successful Deployment: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The platform successfully allows teachers to register and create quizzes.</a:t>
            </a:r>
            <a:endParaRPr/>
          </a:p>
        </p:txBody>
      </p:sp>
      <p:sp>
        <p:nvSpPr>
          <p:cNvPr id="235" name="Google Shape;235;p20"/>
          <p:cNvSpPr txBox="1"/>
          <p:nvPr/>
        </p:nvSpPr>
        <p:spPr>
          <a:xfrm>
            <a:off x="2273358" y="3129115"/>
            <a:ext cx="77058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Attempt Control: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The system effectively blocks students from retaking the same quiz.</a:t>
            </a:r>
            <a:endParaRPr/>
          </a:p>
        </p:txBody>
      </p:sp>
      <p:sp>
        <p:nvSpPr>
          <p:cNvPr id="236" name="Google Shape;236;p20"/>
          <p:cNvSpPr txBox="1"/>
          <p:nvPr/>
        </p:nvSpPr>
        <p:spPr>
          <a:xfrm>
            <a:off x="2273358" y="3881589"/>
            <a:ext cx="7705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Automated Grading: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100% accuracy in MCQ evaluation, eliminating manual errors.</a:t>
            </a:r>
            <a:endParaRPr/>
          </a:p>
        </p:txBody>
      </p:sp>
      <p:sp>
        <p:nvSpPr>
          <p:cNvPr id="237" name="Google Shape;237;p20"/>
          <p:cNvSpPr txBox="1"/>
          <p:nvPr/>
        </p:nvSpPr>
        <p:spPr>
          <a:xfrm>
            <a:off x="2273358" y="4634063"/>
            <a:ext cx="77058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Data Organization: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Results are displayed in a sorted, </a:t>
            </a:r>
            <a:r>
              <a:rPr lang="en-US" sz="15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organized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format for easy analysis.</a:t>
            </a:r>
            <a:endParaRPr/>
          </a:p>
        </p:txBody>
      </p:sp>
      <p:sp>
        <p:nvSpPr>
          <p:cNvPr id="238" name="Google Shape;238;p20"/>
          <p:cNvSpPr txBox="1"/>
          <p:nvPr/>
        </p:nvSpPr>
        <p:spPr>
          <a:xfrm>
            <a:off x="3936758" y="5667375"/>
            <a:ext cx="4318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65F4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Status: </a:t>
            </a:r>
            <a:r>
              <a:rPr lang="en-US" sz="1350">
                <a:solidFill>
                  <a:srgbClr val="065F4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Backend and Database</a:t>
            </a:r>
            <a:r>
              <a:rPr b="0" i="0" lang="en-US" sz="1350" u="none" cap="none" strike="noStrike">
                <a:solidFill>
                  <a:srgbClr val="065F4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Prototype Ready</a:t>
            </a:r>
            <a:endParaRPr/>
          </a:p>
        </p:txBody>
      </p:sp>
      <p:pic>
        <p:nvPicPr>
          <p:cNvPr descr="image.png" id="239" name="Google Shape;239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28800" y="2414750"/>
            <a:ext cx="307525" cy="2000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28800" y="3167217"/>
            <a:ext cx="307525" cy="2000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28800" y="3919685"/>
            <a:ext cx="307525" cy="2000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28800" y="4672152"/>
            <a:ext cx="307525" cy="2000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7" name="Google Shape;24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137320"/>
            <a:ext cx="5238750" cy="39966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6781800"/>
            <a:ext cx="12192000" cy="762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1"/>
          <p:cNvSpPr txBox="1"/>
          <p:nvPr/>
        </p:nvSpPr>
        <p:spPr>
          <a:xfrm>
            <a:off x="571500" y="952500"/>
            <a:ext cx="11601450" cy="508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Conclusion</a:t>
            </a:r>
            <a:endParaRPr/>
          </a:p>
        </p:txBody>
      </p:sp>
      <p:sp>
        <p:nvSpPr>
          <p:cNvPr id="251" name="Google Shape;251;p21"/>
          <p:cNvSpPr/>
          <p:nvPr/>
        </p:nvSpPr>
        <p:spPr>
          <a:xfrm>
            <a:off x="571500" y="1575345"/>
            <a:ext cx="11049000" cy="285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52" name="Google Shape;252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2977455"/>
            <a:ext cx="44577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1"/>
          <p:cNvSpPr txBox="1"/>
          <p:nvPr/>
        </p:nvSpPr>
        <p:spPr>
          <a:xfrm>
            <a:off x="962025" y="3968055"/>
            <a:ext cx="4457700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"BrainBuzz transforms the traditional assessment process into a secure, efficient, and digital workflow."</a:t>
            </a:r>
            <a:endParaRPr/>
          </a:p>
        </p:txBody>
      </p:sp>
      <p:sp>
        <p:nvSpPr>
          <p:cNvPr id="254" name="Google Shape;254;p21"/>
          <p:cNvSpPr txBox="1"/>
          <p:nvPr/>
        </p:nvSpPr>
        <p:spPr>
          <a:xfrm>
            <a:off x="6772275" y="2527845"/>
            <a:ext cx="4680585" cy="319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6B6D4"/>
                </a:solidFill>
                <a:latin typeface="Montserrat"/>
                <a:ea typeface="Montserrat"/>
                <a:cs typeface="Montserrat"/>
                <a:sym typeface="Montserrat"/>
              </a:rPr>
              <a:t>Summary</a:t>
            </a:r>
            <a:endParaRPr/>
          </a:p>
        </p:txBody>
      </p:sp>
      <p:sp>
        <p:nvSpPr>
          <p:cNvPr id="255" name="Google Shape;255;p21"/>
          <p:cNvSpPr txBox="1"/>
          <p:nvPr/>
        </p:nvSpPr>
        <p:spPr>
          <a:xfrm>
            <a:off x="7058025" y="3038326"/>
            <a:ext cx="4171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Provides a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secure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online quiz system.</a:t>
            </a:r>
            <a:endParaRPr/>
          </a:p>
        </p:txBody>
      </p:sp>
      <p:sp>
        <p:nvSpPr>
          <p:cNvPr id="256" name="Google Shape;256;p21"/>
          <p:cNvSpPr txBox="1"/>
          <p:nvPr/>
        </p:nvSpPr>
        <p:spPr>
          <a:xfrm>
            <a:off x="7058025" y="3486001"/>
            <a:ext cx="41719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Significantly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reduces manual effort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for faculty.</a:t>
            </a:r>
            <a:endParaRPr/>
          </a:p>
        </p:txBody>
      </p:sp>
      <p:sp>
        <p:nvSpPr>
          <p:cNvPr id="257" name="Google Shape;257;p21"/>
          <p:cNvSpPr txBox="1"/>
          <p:nvPr/>
        </p:nvSpPr>
        <p:spPr>
          <a:xfrm>
            <a:off x="7058025" y="4238476"/>
            <a:ext cx="41719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Improves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fairness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in assessment through randomization.</a:t>
            </a:r>
            <a:endParaRPr/>
          </a:p>
        </p:txBody>
      </p:sp>
      <p:sp>
        <p:nvSpPr>
          <p:cNvPr id="258" name="Google Shape;258;p21"/>
          <p:cNvSpPr txBox="1"/>
          <p:nvPr/>
        </p:nvSpPr>
        <p:spPr>
          <a:xfrm>
            <a:off x="7058025" y="4990951"/>
            <a:ext cx="41719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Enables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easy performance tracking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via digital records.</a:t>
            </a:r>
            <a:endParaRPr/>
          </a:p>
        </p:txBody>
      </p:sp>
      <p:pic>
        <p:nvPicPr>
          <p:cNvPr descr="image.png" id="259" name="Google Shape;259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72275" y="3076426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0" name="Google Shape;260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72275" y="3524101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1" name="Google Shape;261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72275" y="4276576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2" name="Google Shape;262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72275" y="5029051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7" name="Google Shape;26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8" name="Google Shape;26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6781800"/>
            <a:ext cx="12192000" cy="76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2"/>
          <p:cNvSpPr txBox="1"/>
          <p:nvPr/>
        </p:nvSpPr>
        <p:spPr>
          <a:xfrm>
            <a:off x="571500" y="952500"/>
            <a:ext cx="11601450" cy="508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Future Scope</a:t>
            </a:r>
            <a:endParaRPr/>
          </a:p>
        </p:txBody>
      </p:sp>
      <p:sp>
        <p:nvSpPr>
          <p:cNvPr id="270" name="Google Shape;270;p22"/>
          <p:cNvSpPr/>
          <p:nvPr/>
        </p:nvSpPr>
        <p:spPr>
          <a:xfrm>
            <a:off x="571500" y="1575345"/>
            <a:ext cx="11049000" cy="285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71" name="Google Shape;271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7725" y="2744985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2"/>
          <p:cNvSpPr txBox="1"/>
          <p:nvPr/>
        </p:nvSpPr>
        <p:spPr>
          <a:xfrm>
            <a:off x="1276350" y="2706885"/>
            <a:ext cx="43148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Student Login System: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 Profiles to track history.</a:t>
            </a:r>
            <a:endParaRPr/>
          </a:p>
        </p:txBody>
      </p:sp>
      <p:pic>
        <p:nvPicPr>
          <p:cNvPr descr="image.png" id="273" name="Google Shape;273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15100" y="2744985"/>
            <a:ext cx="259556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2"/>
          <p:cNvSpPr txBox="1"/>
          <p:nvPr/>
        </p:nvSpPr>
        <p:spPr>
          <a:xfrm>
            <a:off x="6917531" y="2554485"/>
            <a:ext cx="4464843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Leaderboard: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 Gamification to encourage competition.</a:t>
            </a:r>
            <a:endParaRPr/>
          </a:p>
        </p:txBody>
      </p:sp>
      <p:pic>
        <p:nvPicPr>
          <p:cNvPr descr="image.png" id="275" name="Google Shape;275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7725" y="4021335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2"/>
          <p:cNvSpPr txBox="1"/>
          <p:nvPr/>
        </p:nvSpPr>
        <p:spPr>
          <a:xfrm>
            <a:off x="1276350" y="3983235"/>
            <a:ext cx="40671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Data Export: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 Download results as Excel/PDF.</a:t>
            </a:r>
            <a:endParaRPr/>
          </a:p>
        </p:txBody>
      </p:sp>
      <p:pic>
        <p:nvPicPr>
          <p:cNvPr descr="image.png" id="277" name="Google Shape;277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15100" y="4021335"/>
            <a:ext cx="281731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2"/>
          <p:cNvSpPr txBox="1"/>
          <p:nvPr/>
        </p:nvSpPr>
        <p:spPr>
          <a:xfrm>
            <a:off x="6939706" y="3830835"/>
            <a:ext cx="4442668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Mobile App: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 A dedicated Android/iOS application.</a:t>
            </a:r>
            <a:endParaRPr/>
          </a:p>
        </p:txBody>
      </p:sp>
      <p:pic>
        <p:nvPicPr>
          <p:cNvPr descr="image.png" id="279" name="Google Shape;279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7725" y="5297685"/>
            <a:ext cx="28292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2"/>
          <p:cNvSpPr txBox="1"/>
          <p:nvPr/>
        </p:nvSpPr>
        <p:spPr>
          <a:xfrm>
            <a:off x="1273522" y="5107185"/>
            <a:ext cx="4441477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Question Bank: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 Repository for reusing questions.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5" name="Google Shape;28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6" name="Google Shape;28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94520"/>
            <a:ext cx="5238750" cy="30822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7" name="Google Shape;287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594520"/>
            <a:ext cx="5238750" cy="30822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8" name="Google Shape;288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6781800"/>
            <a:ext cx="12192000" cy="762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3"/>
          <p:cNvSpPr txBox="1"/>
          <p:nvPr/>
        </p:nvSpPr>
        <p:spPr>
          <a:xfrm>
            <a:off x="571500" y="952500"/>
            <a:ext cx="11601450" cy="508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References</a:t>
            </a:r>
            <a:endParaRPr/>
          </a:p>
        </p:txBody>
      </p:sp>
      <p:sp>
        <p:nvSpPr>
          <p:cNvPr id="290" name="Google Shape;290;p23"/>
          <p:cNvSpPr/>
          <p:nvPr/>
        </p:nvSpPr>
        <p:spPr>
          <a:xfrm>
            <a:off x="571500" y="1575345"/>
            <a:ext cx="11049000" cy="285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3"/>
          <p:cNvSpPr txBox="1"/>
          <p:nvPr/>
        </p:nvSpPr>
        <p:spPr>
          <a:xfrm>
            <a:off x="962025" y="2985045"/>
            <a:ext cx="4680585" cy="319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6B6D4"/>
                </a:solidFill>
                <a:latin typeface="Montserrat"/>
                <a:ea typeface="Montserrat"/>
                <a:cs typeface="Montserrat"/>
                <a:sym typeface="Montserrat"/>
              </a:rPr>
              <a:t>Documentation</a:t>
            </a:r>
            <a:endParaRPr/>
          </a:p>
        </p:txBody>
      </p:sp>
      <p:sp>
        <p:nvSpPr>
          <p:cNvPr id="292" name="Google Shape;292;p23"/>
          <p:cNvSpPr txBox="1"/>
          <p:nvPr/>
        </p:nvSpPr>
        <p:spPr>
          <a:xfrm>
            <a:off x="8239125" y="3975645"/>
            <a:ext cx="16002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Thank You!</a:t>
            </a:r>
            <a:endParaRPr/>
          </a:p>
        </p:txBody>
      </p:sp>
      <p:sp>
        <p:nvSpPr>
          <p:cNvPr id="293" name="Google Shape;293;p23"/>
          <p:cNvSpPr txBox="1"/>
          <p:nvPr/>
        </p:nvSpPr>
        <p:spPr>
          <a:xfrm>
            <a:off x="1247775" y="3495526"/>
            <a:ext cx="4171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Node.js Official Documentation</a:t>
            </a:r>
            <a:endParaRPr/>
          </a:p>
        </p:txBody>
      </p:sp>
      <p:sp>
        <p:nvSpPr>
          <p:cNvPr id="294" name="Google Shape;294;p23"/>
          <p:cNvSpPr txBox="1"/>
          <p:nvPr/>
        </p:nvSpPr>
        <p:spPr>
          <a:xfrm>
            <a:off x="1247775" y="3943201"/>
            <a:ext cx="4171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MongoDB Manual &amp; Docs</a:t>
            </a:r>
            <a:endParaRPr/>
          </a:p>
        </p:txBody>
      </p:sp>
      <p:sp>
        <p:nvSpPr>
          <p:cNvPr id="295" name="Google Shape;295;p23"/>
          <p:cNvSpPr txBox="1"/>
          <p:nvPr/>
        </p:nvSpPr>
        <p:spPr>
          <a:xfrm>
            <a:off x="1247775" y="4390876"/>
            <a:ext cx="4171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React.js Official Documentation</a:t>
            </a:r>
            <a:endParaRPr/>
          </a:p>
        </p:txBody>
      </p:sp>
      <p:sp>
        <p:nvSpPr>
          <p:cNvPr id="296" name="Google Shape;296;p23"/>
          <p:cNvSpPr txBox="1"/>
          <p:nvPr/>
        </p:nvSpPr>
        <p:spPr>
          <a:xfrm>
            <a:off x="1247775" y="4838551"/>
            <a:ext cx="4171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MDN Web Docs (Mozilla)</a:t>
            </a:r>
            <a:endParaRPr/>
          </a:p>
        </p:txBody>
      </p:sp>
      <p:pic>
        <p:nvPicPr>
          <p:cNvPr descr="image.png" id="297" name="Google Shape;297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2025" y="3533626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8" name="Google Shape;298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2025" y="3981301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9" name="Google Shape;299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2025" y="4428976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0" name="Google Shape;300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2025" y="4876651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